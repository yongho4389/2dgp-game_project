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4" r:id="rId4"/>
    <p:sldId id="263" r:id="rId5"/>
    <p:sldId id="261" r:id="rId6"/>
    <p:sldId id="259" r:id="rId7"/>
    <p:sldId id="260" r:id="rId8"/>
    <p:sldId id="258" r:id="rId9"/>
    <p:sldId id="265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8E2555-15C5-8927-29FC-71E4B9A04C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AD0DA0F-2AF7-28E0-1A1A-CF5B59705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3ECCB6-0442-A279-D16E-CC4DACAA4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E09F-F55E-42C1-8016-375A5744E066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EE571E-C0EB-A52D-D0E1-7FD728AB4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97FF71-3D16-1C20-C4C6-F5B669F16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E569C-DEAD-4C8A-927E-13F20DF301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7336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04733F-FB13-F3F7-525A-341BB91A5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DB32D4-3E0E-F2AD-2C6D-A22729973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6A6569-1D69-250D-13EC-FB4FCB853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E09F-F55E-42C1-8016-375A5744E066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895A4C-5CEF-1AF5-E5FA-613FBA55E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4B9AE6-4E59-F474-05AA-745AA5963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E569C-DEAD-4C8A-927E-13F20DF301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5966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D725F3-CA9F-3A0A-EC44-0E2A95D8F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3B1AE0-42F4-41DB-7563-D5857C8ED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43EE42-DEB8-F694-672A-748663D91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E09F-F55E-42C1-8016-375A5744E066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DE8208-89E5-5DDD-E186-945174D82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9E13F5-457B-3D80-CAD5-286441B49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E569C-DEAD-4C8A-927E-13F20DF301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4505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D47405-FCB6-0620-C057-0F3C9CF2E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78347B-E0E1-844A-FD0E-811C62F8F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80C125-EB0D-1CB8-D31E-CECEAD5A1F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AFF5CC-FAD3-26BF-8AFA-D2EC2163C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E09F-F55E-42C1-8016-375A5744E066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49898C-175C-3FFC-CDC6-11F85B9F9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66E297C-EBE3-B3F4-46D7-A1F04342C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E569C-DEAD-4C8A-927E-13F20DF301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03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FF4D81-3A2B-F964-155B-76E2A72A6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A31932-1B3F-367F-DA99-952A5DDBA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E139900-B202-7750-B161-04D67B654B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F4EE676-B20A-5980-BA7D-7C2FF9AEC1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614D795-EF53-77A8-BAF4-CDF43F2B88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1B28DF6-0F75-73F7-6B88-417A0C5A3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E09F-F55E-42C1-8016-375A5744E066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2691E38-61B2-BC50-6140-80490F849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72E468E-CCC5-CBDF-C2FE-C98F48970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E569C-DEAD-4C8A-927E-13F20DF301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214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283ED6-4767-32E1-143B-91D636ADF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DFC366E-021D-BFD4-1B0F-23E9C58C5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E09F-F55E-42C1-8016-375A5744E066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31B2A1E-CF18-6F87-6C19-D6CE26325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6A79F07-B9FF-4A85-8C82-D8B91A7A4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E569C-DEAD-4C8A-927E-13F20DF301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9287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298966D-DE2A-FADA-D8E9-D9A53E0D8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E09F-F55E-42C1-8016-375A5744E066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B0AD6EC-A2F0-A0CE-99C7-5C7796F6B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4E6AF2-69F4-E3E6-EE36-2C979CF9C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E569C-DEAD-4C8A-927E-13F20DF301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6791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8F6B2A-CC71-E145-3DA2-BAB2A7086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1660B7-CC53-B233-29DC-4D13E1A4C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3E3E36-5B12-F19E-C5BE-8ED252D05B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5CBBD5-92AE-F673-1C29-E219C0B1F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E09F-F55E-42C1-8016-375A5744E066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4BB61F2-77A3-142E-B67C-A8E869074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2701FDE-ADE2-0D95-698F-73684BF59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E569C-DEAD-4C8A-927E-13F20DF301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4809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118B5B-24D1-F209-891B-B1F853A4F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7D0E5C4-4145-74C6-8ED7-56B24702DD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96E56E3-8297-B02D-9227-A2A632B816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3B89C14-692D-5073-6301-9BD3F7FCA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E09F-F55E-42C1-8016-375A5744E066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59224D-6948-1766-936C-4E3D7881A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F07AB82-E12E-CF72-0434-9F4EC7B6E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E569C-DEAD-4C8A-927E-13F20DF301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9629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1AAAD4-F69A-0A80-F77A-DB72ADEBC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7A77BD1-763C-65EA-6C69-F998596DD7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7CF038-9C6B-C7C2-CD16-26C8602BD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E09F-F55E-42C1-8016-375A5744E066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B46287-7647-DB9F-EAF4-C3C0C389B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210EFE-8BFA-C02E-ACF5-37AAE0B03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E569C-DEAD-4C8A-927E-13F20DF301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029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5110F6C-D590-542A-CBC1-AD8DA687AB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323B80B-0201-4C9E-F315-1E18BE97BE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FC0850-B60F-0D15-FCE8-6D184D82A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E09F-F55E-42C1-8016-375A5744E066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97116A-1D4A-8E7E-A35A-90CF6691E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7A6A41-EA8A-772F-234D-9F0C44C7A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E569C-DEAD-4C8A-927E-13F20DF301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8629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97DE6F4-3789-8CB8-09B0-2FEF8590F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AF8B3D-84A6-6B68-DFDB-2BC0EE275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EA6270-69BE-25BA-6137-7B6C56FECA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47E09F-F55E-42C1-8016-375A5744E066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4F64ED-383D-337A-484E-2386263A2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A8A8D8-23EC-40C9-CB82-45983105F5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CE569C-DEAD-4C8A-927E-13F20DF301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0232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nichegamer.com/sword-of-the-vagrant-out-on-consoles/" TargetMode="External"/><Relationship Id="rId2" Type="http://schemas.openxmlformats.org/officeDocument/2006/relationships/hyperlink" Target="https://store.onstove.com/ko/games/1722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506A56-E30C-65C5-1C8E-86452D83054D}"/>
              </a:ext>
            </a:extLst>
          </p:cNvPr>
          <p:cNvSpPr txBox="1"/>
          <p:nvPr/>
        </p:nvSpPr>
        <p:spPr>
          <a:xfrm>
            <a:off x="226143" y="445013"/>
            <a:ext cx="101312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/>
              <a:t>포레스트 어드벤처 </a:t>
            </a:r>
            <a:r>
              <a:rPr lang="en-US" altLang="ko-KR" sz="2400" dirty="0"/>
              <a:t>(</a:t>
            </a:r>
            <a:r>
              <a:rPr lang="ko-KR" altLang="en-US" sz="2400" dirty="0" err="1"/>
              <a:t>횡스크롤</a:t>
            </a:r>
            <a:r>
              <a:rPr lang="ko-KR" altLang="en-US" sz="2400" dirty="0"/>
              <a:t> 형식의 액션 </a:t>
            </a:r>
            <a:r>
              <a:rPr lang="en-US" altLang="ko-KR" sz="2400" dirty="0"/>
              <a:t>RPG </a:t>
            </a:r>
            <a:r>
              <a:rPr lang="ko-KR" altLang="en-US" sz="2400" dirty="0"/>
              <a:t>게임</a:t>
            </a:r>
            <a:r>
              <a:rPr lang="en-US" altLang="ko-KR" sz="2400" dirty="0"/>
              <a:t>)</a:t>
            </a:r>
            <a:endParaRPr lang="en-US" altLang="ko-KR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0FE406-57C4-55AD-F142-AA5729E77F85}"/>
              </a:ext>
            </a:extLst>
          </p:cNvPr>
          <p:cNvSpPr txBox="1"/>
          <p:nvPr/>
        </p:nvSpPr>
        <p:spPr>
          <a:xfrm>
            <a:off x="804892" y="2625214"/>
            <a:ext cx="11213326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핵심 컨셉</a:t>
            </a:r>
            <a:r>
              <a:rPr lang="en-US" altLang="ko-KR" sz="2000" dirty="0"/>
              <a:t>: </a:t>
            </a:r>
            <a:r>
              <a:rPr lang="ko-KR" altLang="en-US" sz="2000" dirty="0"/>
              <a:t>총 </a:t>
            </a:r>
            <a:r>
              <a:rPr lang="en-US" altLang="ko-KR" sz="2000" dirty="0"/>
              <a:t>3</a:t>
            </a:r>
            <a:r>
              <a:rPr lang="ko-KR" altLang="en-US" sz="2000" dirty="0"/>
              <a:t>개의 구획을 돌파하고 마지막엔 최종 보스를 쓰러트려 게임에서 승리</a:t>
            </a:r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en-US" sz="2000" b="1" dirty="0"/>
              <a:t>재미 요소</a:t>
            </a:r>
            <a:r>
              <a:rPr lang="en-US" altLang="ko-KR" sz="2000" b="1" dirty="0"/>
              <a:t>1</a:t>
            </a:r>
            <a:r>
              <a:rPr lang="en-US" altLang="ko-KR" sz="2000" dirty="0"/>
              <a:t>: </a:t>
            </a:r>
            <a:r>
              <a:rPr lang="ko-KR" altLang="en-US" sz="2000" dirty="0"/>
              <a:t>각 구획별로 존재하는 </a:t>
            </a:r>
            <a:r>
              <a:rPr lang="ko-KR" altLang="en-US" sz="2000" dirty="0" err="1"/>
              <a:t>엘리트몹의</a:t>
            </a:r>
            <a:r>
              <a:rPr lang="ko-KR" altLang="en-US" sz="2000" dirty="0"/>
              <a:t> 격파 및 최종 보스와의 </a:t>
            </a:r>
            <a:r>
              <a:rPr lang="ko-KR" altLang="en-US" sz="2000" dirty="0" err="1"/>
              <a:t>보스전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en-US" sz="2000" b="1" dirty="0"/>
              <a:t>재미 요소</a:t>
            </a:r>
            <a:r>
              <a:rPr lang="en-US" altLang="ko-KR" sz="2000" b="1" dirty="0"/>
              <a:t>2</a:t>
            </a:r>
            <a:r>
              <a:rPr lang="en-US" altLang="ko-KR" sz="2000" dirty="0"/>
              <a:t>: </a:t>
            </a:r>
            <a:r>
              <a:rPr lang="ko-KR" altLang="en-US" sz="2000" dirty="0"/>
              <a:t>구획별로 존재하는 몬스터 사냥을 통한 캐릭터의 성장과 상점을 이용한 캐릭터 강화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en-US" sz="2000" b="1" dirty="0"/>
              <a:t>재미 요소</a:t>
            </a:r>
            <a:r>
              <a:rPr lang="en-US" altLang="ko-KR" sz="2000" b="1" dirty="0"/>
              <a:t>3</a:t>
            </a:r>
            <a:r>
              <a:rPr lang="en-US" altLang="ko-KR" sz="2000" dirty="0"/>
              <a:t>: </a:t>
            </a:r>
            <a:r>
              <a:rPr lang="ko-KR" altLang="en-US" sz="2000" dirty="0"/>
              <a:t>기본 공격 외에도 </a:t>
            </a:r>
            <a:r>
              <a:rPr lang="en-US" altLang="ko-KR" sz="2000" dirty="0"/>
              <a:t>2</a:t>
            </a:r>
            <a:r>
              <a:rPr lang="ko-KR" altLang="en-US" sz="2000" dirty="0"/>
              <a:t>가지의 강력한 스킬들을 제공해주어 전투의 재미 증가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A8C6C0-E6BD-F98F-4893-220AD40856A0}"/>
              </a:ext>
            </a:extLst>
          </p:cNvPr>
          <p:cNvSpPr txBox="1"/>
          <p:nvPr/>
        </p:nvSpPr>
        <p:spPr>
          <a:xfrm>
            <a:off x="9792929" y="6416100"/>
            <a:ext cx="2225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2022180037 </a:t>
            </a:r>
            <a:r>
              <a:rPr lang="ko-KR" altLang="en-US" dirty="0"/>
              <a:t>임용호</a:t>
            </a:r>
          </a:p>
        </p:txBody>
      </p:sp>
    </p:spTree>
    <p:extLst>
      <p:ext uri="{BB962C8B-B14F-4D97-AF65-F5344CB8AC3E}">
        <p14:creationId xmlns:p14="http://schemas.microsoft.com/office/powerpoint/2010/main" val="1633447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03B6AC44-9E30-2619-D669-53E710436C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1484" y="1674557"/>
            <a:ext cx="8640000" cy="48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0313316-97C8-3A85-CA43-55E8CE3722DF}"/>
              </a:ext>
            </a:extLst>
          </p:cNvPr>
          <p:cNvSpPr txBox="1"/>
          <p:nvPr/>
        </p:nvSpPr>
        <p:spPr>
          <a:xfrm>
            <a:off x="226143" y="452284"/>
            <a:ext cx="1747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/>
              <a:t>구획 전투</a:t>
            </a:r>
            <a:endParaRPr lang="en-US" altLang="ko-KR" sz="2800" b="1" dirty="0"/>
          </a:p>
        </p:txBody>
      </p:sp>
    </p:spTree>
    <p:extLst>
      <p:ext uri="{BB962C8B-B14F-4D97-AF65-F5344CB8AC3E}">
        <p14:creationId xmlns:p14="http://schemas.microsoft.com/office/powerpoint/2010/main" val="1688953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35304137-6751-070B-92B4-F2D7090073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1484" y="1674556"/>
            <a:ext cx="8640000" cy="48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7E5DC83-7B7C-E1C2-F8D7-77E5003964B5}"/>
              </a:ext>
            </a:extLst>
          </p:cNvPr>
          <p:cNvSpPr txBox="1"/>
          <p:nvPr/>
        </p:nvSpPr>
        <p:spPr>
          <a:xfrm>
            <a:off x="226143" y="452284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/>
              <a:t>상점</a:t>
            </a:r>
            <a:endParaRPr lang="en-US" altLang="ko-KR" sz="2800" b="1" dirty="0"/>
          </a:p>
        </p:txBody>
      </p:sp>
    </p:spTree>
    <p:extLst>
      <p:ext uri="{BB962C8B-B14F-4D97-AF65-F5344CB8AC3E}">
        <p14:creationId xmlns:p14="http://schemas.microsoft.com/office/powerpoint/2010/main" val="1139367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word of the Vagrant">
            <a:extLst>
              <a:ext uri="{FF2B5EF4-FFF2-40B4-BE49-F238E27FC236}">
                <a16:creationId xmlns:a16="http://schemas.microsoft.com/office/drawing/2014/main" id="{BC80BE97-A4E4-5F4F-A9DD-B23BCF9BF3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1484" y="1674556"/>
            <a:ext cx="8640000" cy="48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091C62A-F1C6-94DE-967E-64D0265869F1}"/>
              </a:ext>
            </a:extLst>
          </p:cNvPr>
          <p:cNvSpPr txBox="1"/>
          <p:nvPr/>
        </p:nvSpPr>
        <p:spPr>
          <a:xfrm>
            <a:off x="226143" y="452284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err="1"/>
              <a:t>보스전</a:t>
            </a:r>
            <a:endParaRPr lang="en-US" altLang="ko-KR" sz="2800" b="1" dirty="0"/>
          </a:p>
        </p:txBody>
      </p:sp>
    </p:spTree>
    <p:extLst>
      <p:ext uri="{BB962C8B-B14F-4D97-AF65-F5344CB8AC3E}">
        <p14:creationId xmlns:p14="http://schemas.microsoft.com/office/powerpoint/2010/main" val="2889472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F298285-3C05-89AE-4AAC-C8D3C2AAD6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8191413"/>
              </p:ext>
            </p:extLst>
          </p:nvPr>
        </p:nvGraphicFramePr>
        <p:xfrm>
          <a:off x="596489" y="1130710"/>
          <a:ext cx="10917085" cy="526025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6316">
                  <a:extLst>
                    <a:ext uri="{9D8B030D-6E8A-4147-A177-3AD203B41FA5}">
                      <a16:colId xmlns:a16="http://schemas.microsoft.com/office/drawing/2014/main" val="1010163120"/>
                    </a:ext>
                  </a:extLst>
                </a:gridCol>
                <a:gridCol w="9380769">
                  <a:extLst>
                    <a:ext uri="{9D8B030D-6E8A-4147-A177-3AD203B41FA5}">
                      <a16:colId xmlns:a16="http://schemas.microsoft.com/office/drawing/2014/main" val="3610953414"/>
                    </a:ext>
                  </a:extLst>
                </a:gridCol>
              </a:tblGrid>
              <a:tr h="5844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캐릭터 기본 상호작용 구현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이동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점프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대쉬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8159054"/>
                  </a:ext>
                </a:extLst>
              </a:tr>
              <a:tr h="5844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캐릭터 공격 및 스킬 구현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5091811"/>
                  </a:ext>
                </a:extLst>
              </a:tr>
              <a:tr h="5844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상점 구현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캐릭터 강화 등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9584894"/>
                  </a:ext>
                </a:extLst>
              </a:tr>
              <a:tr h="5844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몬스터와 캐릭터의 전투 상호작용 구현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공격과 피격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회피 등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1829294"/>
                  </a:ext>
                </a:extLst>
              </a:tr>
              <a:tr h="5844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구획 </a:t>
                      </a:r>
                      <a:r>
                        <a:rPr lang="en-US" altLang="ko-KR" dirty="0"/>
                        <a:t>1 </a:t>
                      </a:r>
                      <a:r>
                        <a:rPr lang="ko-KR" altLang="en-US" dirty="0"/>
                        <a:t>구현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구획 구현 시 </a:t>
                      </a:r>
                      <a:r>
                        <a:rPr lang="ko-KR" altLang="en-US" dirty="0" err="1"/>
                        <a:t>드랍되는</a:t>
                      </a:r>
                      <a:r>
                        <a:rPr lang="ko-KR" altLang="en-US" dirty="0"/>
                        <a:t> 경험치 및 </a:t>
                      </a:r>
                      <a:r>
                        <a:rPr lang="ko-KR" altLang="en-US" dirty="0" err="1"/>
                        <a:t>골드량</a:t>
                      </a:r>
                      <a:r>
                        <a:rPr lang="ko-KR" altLang="en-US" dirty="0"/>
                        <a:t> 조절</a:t>
                      </a:r>
                      <a:r>
                        <a:rPr lang="en-US" altLang="ko-KR" dirty="0"/>
                        <a:t>) (</a:t>
                      </a:r>
                      <a:r>
                        <a:rPr lang="ko-KR" altLang="en-US" dirty="0"/>
                        <a:t>몬스터 </a:t>
                      </a:r>
                      <a:r>
                        <a:rPr lang="ko-KR" altLang="en-US" dirty="0" err="1"/>
                        <a:t>스텟도</a:t>
                      </a:r>
                      <a:r>
                        <a:rPr lang="ko-KR" altLang="en-US" dirty="0"/>
                        <a:t> 조정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7335962"/>
                  </a:ext>
                </a:extLst>
              </a:tr>
              <a:tr h="5844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구획 </a:t>
                      </a:r>
                      <a:r>
                        <a:rPr lang="en-US" altLang="ko-KR" dirty="0"/>
                        <a:t>2 </a:t>
                      </a:r>
                      <a:r>
                        <a:rPr lang="ko-KR" altLang="en-US" dirty="0"/>
                        <a:t>구현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7010885"/>
                  </a:ext>
                </a:extLst>
              </a:tr>
              <a:tr h="5844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구획 </a:t>
                      </a:r>
                      <a:r>
                        <a:rPr lang="en-US" altLang="ko-KR" dirty="0"/>
                        <a:t>3 </a:t>
                      </a:r>
                      <a:r>
                        <a:rPr lang="ko-KR" altLang="en-US" dirty="0"/>
                        <a:t>구현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3258896"/>
                  </a:ext>
                </a:extLst>
              </a:tr>
              <a:tr h="5844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최종 </a:t>
                      </a:r>
                      <a:r>
                        <a:rPr lang="ko-KR" altLang="en-US" dirty="0" err="1"/>
                        <a:t>보스전</a:t>
                      </a:r>
                      <a:r>
                        <a:rPr lang="ko-KR" altLang="en-US" dirty="0"/>
                        <a:t> 구현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2439103"/>
                  </a:ext>
                </a:extLst>
              </a:tr>
              <a:tr h="5844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포탈 사용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캐릭터 </a:t>
                      </a:r>
                      <a:r>
                        <a:rPr lang="ko-KR" altLang="en-US" dirty="0" err="1"/>
                        <a:t>체력바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경험치 현황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골드 현황 등의 </a:t>
                      </a:r>
                      <a:r>
                        <a:rPr lang="en-US" altLang="ko-KR" dirty="0"/>
                        <a:t>UI </a:t>
                      </a:r>
                      <a:r>
                        <a:rPr lang="ko-KR" altLang="en-US" dirty="0"/>
                        <a:t>추가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725192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E9F30F9-07A2-75CC-0A64-0A9D0548654B}"/>
              </a:ext>
            </a:extLst>
          </p:cNvPr>
          <p:cNvSpPr txBox="1"/>
          <p:nvPr/>
        </p:nvSpPr>
        <p:spPr>
          <a:xfrm>
            <a:off x="226143" y="452284"/>
            <a:ext cx="1747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/>
              <a:t>개발 계획</a:t>
            </a:r>
            <a:endParaRPr lang="en-US" altLang="ko-KR" sz="2800" b="1" dirty="0"/>
          </a:p>
        </p:txBody>
      </p:sp>
    </p:spTree>
    <p:extLst>
      <p:ext uri="{BB962C8B-B14F-4D97-AF65-F5344CB8AC3E}">
        <p14:creationId xmlns:p14="http://schemas.microsoft.com/office/powerpoint/2010/main" val="3023790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81F1A5-1175-0B93-39BA-5874E2C7290D}"/>
              </a:ext>
            </a:extLst>
          </p:cNvPr>
          <p:cNvSpPr txBox="1"/>
          <p:nvPr/>
        </p:nvSpPr>
        <p:spPr>
          <a:xfrm>
            <a:off x="449524" y="764567"/>
            <a:ext cx="11549957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게임 진행 양상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총 </a:t>
            </a:r>
            <a:r>
              <a:rPr lang="en-US" altLang="ko-KR" dirty="0"/>
              <a:t>3</a:t>
            </a:r>
            <a:r>
              <a:rPr lang="ko-KR" altLang="en-US" dirty="0"/>
              <a:t>개의 구획이 있으며</a:t>
            </a:r>
            <a:r>
              <a:rPr lang="en-US" altLang="ko-KR" dirty="0"/>
              <a:t>, </a:t>
            </a:r>
            <a:r>
              <a:rPr lang="ko-KR" altLang="en-US" dirty="0"/>
              <a:t>각 구획마다 </a:t>
            </a:r>
            <a:r>
              <a:rPr lang="ko-KR" altLang="en-US" dirty="0" err="1"/>
              <a:t>엘리트몹이</a:t>
            </a:r>
            <a:r>
              <a:rPr lang="ko-KR" altLang="en-US" dirty="0"/>
              <a:t> 존재한다</a:t>
            </a:r>
            <a:r>
              <a:rPr lang="en-US" altLang="ko-KR"/>
              <a:t>.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구획과 구획 사이에는 상점이 존재하여 정비 가능</a:t>
            </a:r>
            <a:r>
              <a:rPr lang="en-US" altLang="ko-KR" dirty="0"/>
              <a:t>) (</a:t>
            </a:r>
            <a:r>
              <a:rPr lang="ko-KR" altLang="en-US" dirty="0"/>
              <a:t>구획 이동은 포탈로 수행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(</a:t>
            </a:r>
            <a:r>
              <a:rPr lang="ko-KR" altLang="en-US" dirty="0"/>
              <a:t>몬스터는 주기적인 </a:t>
            </a:r>
            <a:r>
              <a:rPr lang="ko-KR" altLang="en-US" dirty="0" err="1"/>
              <a:t>리스폰</a:t>
            </a:r>
            <a:r>
              <a:rPr lang="ko-KR" altLang="en-US" dirty="0"/>
              <a:t> 또는 구획 이동 시에 생성이 초기화되는 방식을 적용하여 전체 </a:t>
            </a:r>
            <a:r>
              <a:rPr lang="ko-KR" altLang="en-US" dirty="0" err="1"/>
              <a:t>리스폰을</a:t>
            </a:r>
            <a:r>
              <a:rPr lang="ko-KR" altLang="en-US" dirty="0"/>
              <a:t> 적용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(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이전에 갔던 구획을 재방문 하면서 경험치 및 골드 수급이 가능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스테이지 레벨이 올라갈수록 적들이 더욱 강해지며</a:t>
            </a:r>
            <a:r>
              <a:rPr lang="en-US" altLang="ko-KR" dirty="0"/>
              <a:t>, </a:t>
            </a:r>
            <a:r>
              <a:rPr lang="ko-KR" altLang="en-US" dirty="0"/>
              <a:t>그에 따른 제공 보상도 커짐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최종 보스를 처치하면 최종적으로 게임이 끝나게 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몬스터는 경험치와 골드를 제공하며</a:t>
            </a:r>
            <a:r>
              <a:rPr lang="en-US" altLang="ko-KR" dirty="0"/>
              <a:t>, </a:t>
            </a:r>
            <a:r>
              <a:rPr lang="ko-KR" altLang="en-US" dirty="0"/>
              <a:t>경험치는 레벨업을</a:t>
            </a:r>
            <a:r>
              <a:rPr lang="en-US" altLang="ko-KR" dirty="0"/>
              <a:t>, </a:t>
            </a:r>
            <a:r>
              <a:rPr lang="ko-KR" altLang="en-US" dirty="0"/>
              <a:t>골드는 상점 이용 시에 사용</a:t>
            </a:r>
            <a:r>
              <a:rPr lang="en-US" altLang="ko-KR" dirty="0"/>
              <a:t>. (</a:t>
            </a:r>
            <a:r>
              <a:rPr lang="ko-KR" altLang="en-US" dirty="0" err="1"/>
              <a:t>엘리트몹은</a:t>
            </a:r>
            <a:r>
              <a:rPr lang="ko-KR" altLang="en-US" dirty="0"/>
              <a:t> 더 많이 줌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경험치 현황은 화면 좌측 상단의 </a:t>
            </a:r>
            <a:r>
              <a:rPr lang="ko-KR" altLang="en-US" dirty="0" err="1"/>
              <a:t>체력바</a:t>
            </a:r>
            <a:r>
              <a:rPr lang="ko-KR" altLang="en-US" dirty="0"/>
              <a:t> 아래 푸른 게이지바로 확인 가능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골드는 골드 아이콘과 함께 현 보유량을 화면 좌측 상단에 표시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49628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2318B7-6344-8550-0401-CE4E4B9A73D5}"/>
              </a:ext>
            </a:extLst>
          </p:cNvPr>
          <p:cNvSpPr txBox="1"/>
          <p:nvPr/>
        </p:nvSpPr>
        <p:spPr>
          <a:xfrm>
            <a:off x="779206" y="1929013"/>
            <a:ext cx="1063358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상점 시스템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구획과 구획 사이에는 상점이 존재해 캐릭터 강화가 가능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레벨업을 하면 최대 체력 증가 및 공격력이 상승</a:t>
            </a:r>
            <a:r>
              <a:rPr lang="en-US" altLang="ko-KR" dirty="0"/>
              <a:t>. (</a:t>
            </a:r>
            <a:r>
              <a:rPr lang="ko-KR" altLang="en-US" dirty="0"/>
              <a:t>최대 </a:t>
            </a:r>
            <a:r>
              <a:rPr lang="en-US" altLang="ko-KR" dirty="0"/>
              <a:t>10</a:t>
            </a:r>
            <a:r>
              <a:rPr lang="ko-KR" altLang="en-US" dirty="0"/>
              <a:t>레벨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캐릭터 강화는 기본 공격 및 각 스킬의 범위 증가</a:t>
            </a:r>
            <a:r>
              <a:rPr lang="en-US" altLang="ko-KR" dirty="0"/>
              <a:t>, </a:t>
            </a:r>
            <a:r>
              <a:rPr lang="ko-KR" altLang="en-US" dirty="0"/>
              <a:t>또는 데미지 증가가 가능</a:t>
            </a:r>
            <a:r>
              <a:rPr lang="en-US" altLang="ko-KR" dirty="0"/>
              <a:t>. (</a:t>
            </a:r>
            <a:r>
              <a:rPr lang="ko-KR" altLang="en-US" dirty="0"/>
              <a:t>각각 최대 </a:t>
            </a:r>
            <a:r>
              <a:rPr lang="en-US" altLang="ko-KR" dirty="0"/>
              <a:t>5</a:t>
            </a:r>
            <a:r>
              <a:rPr lang="ko-KR" altLang="en-US" dirty="0"/>
              <a:t>강까지 가능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각 요소의 데미지 증가 따로</a:t>
            </a:r>
            <a:r>
              <a:rPr lang="en-US" altLang="ko-KR" dirty="0"/>
              <a:t>, </a:t>
            </a:r>
            <a:r>
              <a:rPr lang="ko-KR" altLang="en-US" dirty="0"/>
              <a:t>범위 따로</a:t>
            </a:r>
            <a:r>
              <a:rPr lang="en-US" altLang="ko-KR" dirty="0"/>
              <a:t>, </a:t>
            </a:r>
            <a:r>
              <a:rPr lang="ko-KR" altLang="en-US" dirty="0"/>
              <a:t>이렇게 총 </a:t>
            </a:r>
            <a:r>
              <a:rPr lang="en-US" altLang="ko-KR" dirty="0"/>
              <a:t>2</a:t>
            </a:r>
            <a:r>
              <a:rPr lang="ko-KR" altLang="en-US" dirty="0"/>
              <a:t>가지를 각 요소마다 별개로 가진다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(ex, </a:t>
            </a:r>
            <a:r>
              <a:rPr lang="ko-KR" altLang="en-US" dirty="0"/>
              <a:t>기본 공격의 데미지를 증가시키는 강화와</a:t>
            </a:r>
            <a:r>
              <a:rPr lang="en-US" altLang="ko-KR" dirty="0"/>
              <a:t> </a:t>
            </a:r>
            <a:r>
              <a:rPr lang="ko-KR" altLang="en-US" dirty="0"/>
              <a:t>기본 공격의 범위를 증가시키는 강화로 나뉘는 등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7050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F18A26-06B7-D1C1-8771-A2923914D754}"/>
              </a:ext>
            </a:extLst>
          </p:cNvPr>
          <p:cNvSpPr txBox="1"/>
          <p:nvPr/>
        </p:nvSpPr>
        <p:spPr>
          <a:xfrm>
            <a:off x="0" y="197346"/>
            <a:ext cx="12393136" cy="64633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조작법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이동 조작키</a:t>
            </a:r>
            <a:r>
              <a:rPr lang="en-US" altLang="ko-KR" dirty="0"/>
              <a:t>: w, a, s, d</a:t>
            </a:r>
          </a:p>
          <a:p>
            <a:endParaRPr lang="en-US" altLang="ko-KR" dirty="0"/>
          </a:p>
          <a:p>
            <a:r>
              <a:rPr lang="ko-KR" altLang="en-US" dirty="0"/>
              <a:t>공격</a:t>
            </a:r>
            <a:r>
              <a:rPr lang="en-US" altLang="ko-KR" dirty="0"/>
              <a:t>: j</a:t>
            </a:r>
          </a:p>
          <a:p>
            <a:endParaRPr lang="en-US" altLang="ko-KR" dirty="0"/>
          </a:p>
          <a:p>
            <a:r>
              <a:rPr lang="ko-KR" altLang="en-US" dirty="0"/>
              <a:t>점프</a:t>
            </a:r>
            <a:r>
              <a:rPr lang="en-US" altLang="ko-KR" dirty="0"/>
              <a:t>: k</a:t>
            </a:r>
          </a:p>
          <a:p>
            <a:endParaRPr lang="en-US" altLang="ko-KR" dirty="0"/>
          </a:p>
          <a:p>
            <a:r>
              <a:rPr lang="ko-KR" altLang="en-US" dirty="0" err="1"/>
              <a:t>대쉬</a:t>
            </a:r>
            <a:r>
              <a:rPr lang="en-US" altLang="ko-KR" dirty="0"/>
              <a:t>(</a:t>
            </a:r>
            <a:r>
              <a:rPr lang="ko-KR" altLang="en-US" dirty="0"/>
              <a:t>회피</a:t>
            </a:r>
            <a:r>
              <a:rPr lang="en-US" altLang="ko-KR" dirty="0"/>
              <a:t>): l(L)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스킬 </a:t>
            </a:r>
            <a:r>
              <a:rPr lang="en-US" altLang="ko-KR" dirty="0"/>
              <a:t>1: u (</a:t>
            </a:r>
            <a:r>
              <a:rPr lang="ko-KR" altLang="en-US" dirty="0"/>
              <a:t>전방을 향한 검기 발사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스킬 </a:t>
            </a:r>
            <a:r>
              <a:rPr lang="en-US" altLang="ko-KR" dirty="0"/>
              <a:t>2: </a:t>
            </a:r>
            <a:r>
              <a:rPr lang="en-US" altLang="ko-KR" dirty="0" err="1"/>
              <a:t>i</a:t>
            </a:r>
            <a:r>
              <a:rPr lang="en-US" altLang="ko-KR" dirty="0"/>
              <a:t> (</a:t>
            </a:r>
            <a:r>
              <a:rPr lang="ko-KR" altLang="en-US" dirty="0"/>
              <a:t>검기 파동</a:t>
            </a:r>
            <a:r>
              <a:rPr lang="en-US" altLang="ko-KR" dirty="0"/>
              <a:t>. </a:t>
            </a:r>
            <a:r>
              <a:rPr lang="ko-KR" altLang="en-US" dirty="0"/>
              <a:t>캐릭터를 중심으로 파동이 퍼져 나가며 전방위 광역 공격 수행</a:t>
            </a:r>
            <a:r>
              <a:rPr lang="en-US" altLang="ko-KR" dirty="0"/>
              <a:t>) (</a:t>
            </a:r>
            <a:r>
              <a:rPr lang="ko-KR" altLang="en-US" dirty="0"/>
              <a:t>미정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UI)</a:t>
            </a:r>
          </a:p>
          <a:p>
            <a:endParaRPr lang="en-US" altLang="ko-KR" dirty="0"/>
          </a:p>
          <a:p>
            <a:r>
              <a:rPr lang="ko-KR" altLang="en-US" dirty="0"/>
              <a:t>화면 좌측 상단에 캐릭터 아이콘과 함께 우측에 가로로 길게 빨간 게이지바로 체력을 나타냄</a:t>
            </a:r>
            <a:r>
              <a:rPr lang="en-US" altLang="ko-KR" dirty="0"/>
              <a:t>. </a:t>
            </a:r>
            <a:r>
              <a:rPr lang="ko-KR" altLang="en-US" dirty="0"/>
              <a:t>레벨은 </a:t>
            </a:r>
            <a:r>
              <a:rPr lang="ko-KR" altLang="en-US" dirty="0" err="1"/>
              <a:t>체력바</a:t>
            </a:r>
            <a:r>
              <a:rPr lang="ko-KR" altLang="en-US" dirty="0"/>
              <a:t> 위에 표시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체력바</a:t>
            </a:r>
            <a:r>
              <a:rPr lang="ko-KR" altLang="en-US" dirty="0"/>
              <a:t> 아래에는 푸른 게이지바로 현 경험치 현황을 보여주며</a:t>
            </a:r>
            <a:r>
              <a:rPr lang="en-US" altLang="ko-KR" dirty="0"/>
              <a:t>, </a:t>
            </a:r>
            <a:r>
              <a:rPr lang="ko-KR" altLang="en-US" dirty="0"/>
              <a:t>이것이 모두 차면 </a:t>
            </a:r>
            <a:r>
              <a:rPr lang="en-US" altLang="ko-KR" dirty="0"/>
              <a:t>0</a:t>
            </a:r>
            <a:r>
              <a:rPr lang="ko-KR" altLang="en-US" dirty="0"/>
              <a:t>으로 초기화 되고 </a:t>
            </a:r>
            <a:r>
              <a:rPr lang="ko-KR" altLang="en-US" dirty="0" err="1"/>
              <a:t>레벨업</a:t>
            </a:r>
            <a:r>
              <a:rPr lang="ko-KR" altLang="en-US" dirty="0"/>
              <a:t> 수행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골드는 화면 좌측 상단에 아이콘과 함께 현 보유량이 표시된다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1297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CF8454-2B5B-D2F6-0E74-F66E94C34541}"/>
              </a:ext>
            </a:extLst>
          </p:cNvPr>
          <p:cNvSpPr txBox="1"/>
          <p:nvPr/>
        </p:nvSpPr>
        <p:spPr>
          <a:xfrm>
            <a:off x="471948" y="383458"/>
            <a:ext cx="68325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이미지 출처</a:t>
            </a:r>
            <a:r>
              <a:rPr lang="en-US" altLang="ko-KR" dirty="0"/>
              <a:t>: </a:t>
            </a:r>
            <a:r>
              <a:rPr lang="en-US" altLang="ko-KR" dirty="0">
                <a:hlinkClick r:id="rId2"/>
              </a:rPr>
              <a:t>https://store.onstove.com/ko/games/1722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>
                <a:hlinkClick r:id="rId3"/>
              </a:rPr>
              <a:t>https://nichegamer.com/sword-of-the-vagrant-out-on-consoles/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07324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502</Words>
  <Application>Microsoft Office PowerPoint</Application>
  <PresentationFormat>와이드스크린</PresentationFormat>
  <Paragraphs>85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Main</dc:creator>
  <cp:lastModifiedBy>Main</cp:lastModifiedBy>
  <cp:revision>28</cp:revision>
  <dcterms:created xsi:type="dcterms:W3CDTF">2025-09-27T12:18:50Z</dcterms:created>
  <dcterms:modified xsi:type="dcterms:W3CDTF">2025-11-09T02:46:06Z</dcterms:modified>
</cp:coreProperties>
</file>